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80" r:id="rId2"/>
    <p:sldId id="366" r:id="rId3"/>
    <p:sldId id="380" r:id="rId4"/>
    <p:sldId id="383" r:id="rId5"/>
    <p:sldId id="384" r:id="rId6"/>
    <p:sldId id="385" r:id="rId7"/>
    <p:sldId id="386" r:id="rId8"/>
    <p:sldId id="387" r:id="rId9"/>
    <p:sldId id="388" r:id="rId10"/>
    <p:sldId id="400" r:id="rId11"/>
    <p:sldId id="389" r:id="rId12"/>
    <p:sldId id="390" r:id="rId13"/>
    <p:sldId id="401" r:id="rId14"/>
    <p:sldId id="391" r:id="rId15"/>
    <p:sldId id="402" r:id="rId16"/>
    <p:sldId id="392" r:id="rId17"/>
    <p:sldId id="393" r:id="rId18"/>
    <p:sldId id="394" r:id="rId19"/>
    <p:sldId id="398" r:id="rId20"/>
    <p:sldId id="395" r:id="rId21"/>
    <p:sldId id="397" r:id="rId22"/>
    <p:sldId id="399" r:id="rId23"/>
    <p:sldId id="28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p:scale>
          <a:sx n="66" d="100"/>
          <a:sy n="66" d="100"/>
        </p:scale>
        <p:origin x="1304"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9D9B2-2F36-9FF5-585F-C936DF893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84E19-C344-1361-128B-7E9AE052B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AC40A-885A-F7B6-2773-4A6B6088137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0B9F2FB-8047-745F-4654-A1881B0E8EA6}"/>
              </a:ext>
            </a:extLst>
          </p:cNvPr>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710658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B736-294D-90AA-AFB9-4D7DE9F02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30ABB-D2D7-7C22-DCBF-D0974B78C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9A6F1-FDC2-1FF8-67C9-A3A61B32BD3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ABF27E4-0ABD-3794-1546-2FBFCFE0AC95}"/>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95888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3EDE-344A-4DCA-B8E3-78D3A6FF9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B3451-12DC-AE9F-904E-CE5F44AA8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47C4E-D773-E062-1464-1D08381476A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5D306B-4830-145B-0A63-15D34AB53D95}"/>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91233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hyperlink" Target="https://ieeexplore.ieee.org/author/37089875370" TargetMode="Externa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ieeexplore.ieee.org/author/845546534653322" TargetMode="External"/><Relationship Id="rId5" Type="http://schemas.openxmlformats.org/officeDocument/2006/relationships/hyperlink" Target="https://ieeexplore.ieee.org/author/37089767902" TargetMode="External"/><Relationship Id="rId4" Type="http://schemas.openxmlformats.org/officeDocument/2006/relationships/hyperlink" Target="https://ieeexplore.ieee.org/author/224744720455561"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a:t>220701046</a:t>
              </a:r>
            </a:p>
            <a:p>
              <a:r>
                <a:rPr lang="en-US" sz="2000" b="1" dirty="0" err="1"/>
                <a:t>Bhuvaneshwari</a:t>
              </a:r>
              <a:r>
                <a:rPr lang="en-US" sz="2000" b="1" dirty="0"/>
                <a:t> M</a:t>
              </a:r>
            </a:p>
            <a:p>
              <a:r>
                <a:rPr lang="en-US" sz="2000" b="1" dirty="0"/>
                <a:t>Jinu Sophia, M.E.,(</a:t>
              </a:r>
              <a:r>
                <a:rPr lang="en-US" sz="2000" b="1" dirty="0" err="1"/>
                <a:t>Ph.D</a:t>
              </a:r>
              <a:r>
                <a:rPr lang="en-US" sz="2000" b="1" dirty="0"/>
                <a:t>)</a:t>
              </a:r>
            </a:p>
            <a:p>
              <a:r>
                <a:rPr lang="en-US" sz="2000" b="1" dirty="0"/>
                <a:t>B.E Computer Science and Engineering </a:t>
              </a:r>
            </a:p>
          </p:txBody>
        </p:sp>
        <p:grpSp>
          <p:nvGrpSpPr>
            <p:cNvPr id="43" name="Group 42"/>
            <p:cNvGrpSpPr/>
            <p:nvPr/>
          </p:nvGrpSpPr>
          <p:grpSpPr>
            <a:xfrm>
              <a:off x="-14748" y="986564"/>
              <a:ext cx="9158748" cy="3699662"/>
              <a:chOff x="-14748" y="986564"/>
              <a:chExt cx="9158748"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2585323"/>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FLOWCHART GENERATOR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A </a:t>
            </a:r>
            <a:r>
              <a:rPr lang="en-US" b="1" dirty="0">
                <a:latin typeface="Calibri" panose="020F0502020204030204" pitchFamily="34" charset="0"/>
                <a:ea typeface="Calibri" panose="020F0502020204030204" pitchFamily="34" charset="0"/>
                <a:cs typeface="Calibri" panose="020F0502020204030204" pitchFamily="34" charset="0"/>
              </a:rPr>
              <a:t>Flowchart Generator Bot</a:t>
            </a:r>
            <a:r>
              <a:rPr lang="en-US" dirty="0">
                <a:latin typeface="Calibri" panose="020F0502020204030204" pitchFamily="34" charset="0"/>
                <a:ea typeface="Calibri" panose="020F0502020204030204" pitchFamily="34" charset="0"/>
                <a:cs typeface="Calibri" panose="020F0502020204030204" pitchFamily="34" charset="0"/>
              </a:rPr>
              <a:t> is an automated system that dynamically creates flowcharts based on user inputs, streamlining the process of </a:t>
            </a:r>
            <a:r>
              <a:rPr lang="en-US" b="1" dirty="0">
                <a:latin typeface="Calibri" panose="020F0502020204030204" pitchFamily="34" charset="0"/>
                <a:ea typeface="Calibri" panose="020F0502020204030204" pitchFamily="34" charset="0"/>
                <a:cs typeface="Calibri" panose="020F0502020204030204" pitchFamily="34" charset="0"/>
              </a:rPr>
              <a:t>visualizing workflows, algorithms, and processes</a:t>
            </a:r>
            <a:r>
              <a:rPr lang="en-US" dirty="0">
                <a:latin typeface="Calibri" panose="020F0502020204030204" pitchFamily="34" charset="0"/>
                <a:ea typeface="Calibri" panose="020F0502020204030204" pitchFamily="34" charset="0"/>
                <a:cs typeface="Calibri" panose="020F0502020204030204" pitchFamily="34" charset="0"/>
              </a:rPr>
              <a:t>. </a:t>
            </a:r>
          </a:p>
          <a:p>
            <a:pPr algn="just"/>
            <a:r>
              <a:rPr lang="en-US" dirty="0">
                <a:latin typeface="Calibri" panose="020F0502020204030204" pitchFamily="34" charset="0"/>
                <a:ea typeface="Calibri" panose="020F0502020204030204" pitchFamily="34" charset="0"/>
                <a:cs typeface="Calibri" panose="020F0502020204030204" pitchFamily="34" charset="0"/>
              </a:rPr>
              <a:t>It eliminates </a:t>
            </a:r>
            <a:r>
              <a:rPr lang="en-US" b="1" dirty="0">
                <a:latin typeface="Calibri" panose="020F0502020204030204" pitchFamily="34" charset="0"/>
                <a:ea typeface="Calibri" panose="020F0502020204030204" pitchFamily="34" charset="0"/>
                <a:cs typeface="Calibri" panose="020F0502020204030204" pitchFamily="34" charset="0"/>
              </a:rPr>
              <a:t>manual design efforts</a:t>
            </a:r>
            <a:r>
              <a:rPr lang="en-US" dirty="0">
                <a:latin typeface="Calibri" panose="020F0502020204030204" pitchFamily="34" charset="0"/>
                <a:ea typeface="Calibri" panose="020F0502020204030204" pitchFamily="34" charset="0"/>
                <a:cs typeface="Calibri" panose="020F0502020204030204" pitchFamily="34" charset="0"/>
              </a:rPr>
              <a:t>, ensuring accuracy and consistency across diagrams while supporting multiple formats like </a:t>
            </a:r>
            <a:r>
              <a:rPr lang="en-US" dirty="0" err="1">
                <a:latin typeface="Calibri" panose="020F0502020204030204" pitchFamily="34" charset="0"/>
                <a:ea typeface="Calibri" panose="020F0502020204030204" pitchFamily="34" charset="0"/>
                <a:cs typeface="Calibri" panose="020F0502020204030204" pitchFamily="34" charset="0"/>
              </a:rPr>
              <a:t>PlantUML</a:t>
            </a:r>
            <a:r>
              <a:rPr lang="en-US" dirty="0">
                <a:latin typeface="Calibri" panose="020F0502020204030204" pitchFamily="34" charset="0"/>
                <a:ea typeface="Calibri" panose="020F0502020204030204" pitchFamily="34" charset="0"/>
                <a:cs typeface="Calibri" panose="020F0502020204030204" pitchFamily="34" charset="0"/>
              </a:rPr>
              <a:t> or image exports.</a:t>
            </a:r>
          </a:p>
          <a:p>
            <a:pPr algn="just"/>
            <a:r>
              <a:rPr lang="en-US" dirty="0">
                <a:latin typeface="Calibri" panose="020F0502020204030204" pitchFamily="34" charset="0"/>
                <a:ea typeface="Calibri" panose="020F0502020204030204" pitchFamily="34" charset="0"/>
                <a:cs typeface="Calibri" panose="020F0502020204030204" pitchFamily="34" charset="0"/>
              </a:rPr>
              <a:t>The Flowchart Generator Bot is </a:t>
            </a:r>
            <a:r>
              <a:rPr lang="en-US" b="1" dirty="0">
                <a:latin typeface="Calibri" panose="020F0502020204030204" pitchFamily="34" charset="0"/>
                <a:ea typeface="Calibri" panose="020F0502020204030204" pitchFamily="34" charset="0"/>
                <a:cs typeface="Calibri" panose="020F0502020204030204" pitchFamily="34" charset="0"/>
              </a:rPr>
              <a:t>an automation tool </a:t>
            </a:r>
            <a:r>
              <a:rPr lang="en-US" dirty="0">
                <a:latin typeface="Calibri" panose="020F0502020204030204" pitchFamily="34" charset="0"/>
                <a:ea typeface="Calibri" panose="020F0502020204030204" pitchFamily="34" charset="0"/>
                <a:cs typeface="Calibri" panose="020F0502020204030204" pitchFamily="34" charset="0"/>
              </a:rPr>
              <a:t>built in UiPath to </a:t>
            </a:r>
            <a:r>
              <a:rPr lang="en-US" b="1" dirty="0">
                <a:latin typeface="Calibri" panose="020F0502020204030204" pitchFamily="34" charset="0"/>
                <a:ea typeface="Calibri" panose="020F0502020204030204" pitchFamily="34" charset="0"/>
                <a:cs typeface="Calibri" panose="020F0502020204030204" pitchFamily="34" charset="0"/>
              </a:rPr>
              <a:t>streamline the process of creating flowcharts</a:t>
            </a:r>
            <a:r>
              <a:rPr lang="en-US" dirty="0">
                <a:latin typeface="Calibri" panose="020F0502020204030204" pitchFamily="34" charset="0"/>
                <a:ea typeface="Calibri" panose="020F0502020204030204" pitchFamily="34" charset="0"/>
                <a:cs typeface="Calibri" panose="020F0502020204030204" pitchFamily="34" charset="0"/>
              </a:rPr>
              <a:t>.</a:t>
            </a:r>
          </a:p>
          <a:p>
            <a:pPr algn="just"/>
            <a:r>
              <a:rPr lang="en-US" dirty="0">
                <a:latin typeface="Calibri" panose="020F0502020204030204" pitchFamily="34" charset="0"/>
                <a:ea typeface="Calibri" panose="020F0502020204030204" pitchFamily="34" charset="0"/>
                <a:cs typeface="Calibri" panose="020F0502020204030204" pitchFamily="34" charset="0"/>
              </a:rPr>
              <a:t> By accepting a descriptive prompt, it automatically generates a flowchart that represents the given process or problem, and then emails the finished flowchart to users.</a:t>
            </a:r>
            <a:endParaRPr lang="en-IN" dirty="0">
              <a:latin typeface="Calibri" panose="020F0502020204030204" pitchFamily="34" charset="0"/>
              <a:ea typeface="Calibri" panose="020F0502020204030204" pitchFamily="34" charset="0"/>
              <a:cs typeface="Calibri" panose="020F0502020204030204" pitchFamily="34" charset="0"/>
            </a:endParaRPr>
          </a:p>
          <a:p>
            <a:endParaRPr lang="en-US" dirty="0"/>
          </a:p>
          <a:p>
            <a:pPr marL="0" indent="0">
              <a:buNone/>
            </a:pPr>
            <a:endParaRPr lang="en-US" dirty="0">
              <a:latin typeface="+mn-lt"/>
            </a:endParaRP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Need for the Proposed System</a:t>
            </a:r>
            <a:endParaRPr lang="en-IN" b="1" dirty="0">
              <a:latin typeface="+mj-lt"/>
            </a:endParaRPr>
          </a:p>
        </p:txBody>
      </p:sp>
      <p:sp>
        <p:nvSpPr>
          <p:cNvPr id="3" name="Content Placeholder 2"/>
          <p:cNvSpPr>
            <a:spLocks noGrp="1"/>
          </p:cNvSpPr>
          <p:nvPr>
            <p:ph idx="1"/>
          </p:nvPr>
        </p:nvSpPr>
        <p:spPr>
          <a:xfrm>
            <a:off x="107504" y="1340768"/>
            <a:ext cx="8763000" cy="3888431"/>
          </a:xfrm>
        </p:spPr>
        <p:txBody>
          <a:bodyPr>
            <a:normAutofit lnSpcReduction="10000"/>
          </a:bodyPr>
          <a:lstStyle/>
          <a:p>
            <a:pPr algn="just"/>
            <a:r>
              <a:rPr lang="en-US" sz="2800" dirty="0"/>
              <a:t>Modern workflows demand </a:t>
            </a:r>
            <a:r>
              <a:rPr lang="en-US" sz="2800" b="1" dirty="0"/>
              <a:t>rapid and precise documentation </a:t>
            </a:r>
            <a:r>
              <a:rPr lang="en-US" sz="2800" dirty="0"/>
              <a:t>of processes, which manual methods </a:t>
            </a:r>
            <a:r>
              <a:rPr lang="en-US" sz="2800" b="1" dirty="0"/>
              <a:t>cannot fulfill efficiently</a:t>
            </a:r>
            <a:r>
              <a:rPr lang="en-US" sz="2800" dirty="0"/>
              <a:t>. </a:t>
            </a:r>
          </a:p>
          <a:p>
            <a:pPr algn="just"/>
            <a:r>
              <a:rPr lang="en-US" sz="2800" dirty="0"/>
              <a:t>A Flowchart Generator addresses this gap by automating diagram </a:t>
            </a:r>
            <a:r>
              <a:rPr lang="en-US" sz="2800" b="1" dirty="0"/>
              <a:t>creation, saving time, and reducing errors. </a:t>
            </a:r>
          </a:p>
          <a:p>
            <a:pPr algn="just"/>
            <a:r>
              <a:rPr lang="en-US" sz="2800" dirty="0"/>
              <a:t>It is especially beneficial in complex project environments requiring detailed, accurate visual representations.</a:t>
            </a:r>
          </a:p>
          <a:p>
            <a:pPr algn="just"/>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a:xfrm>
            <a:off x="190500" y="1844824"/>
            <a:ext cx="8763000" cy="3024336"/>
          </a:xfrm>
        </p:spPr>
        <p:txBody>
          <a:bodyPr>
            <a:normAutofit/>
          </a:bodyPr>
          <a:lstStyle/>
          <a:p>
            <a:pPr algn="just"/>
            <a:r>
              <a:rPr lang="en-US" sz="2600" b="1" dirty="0"/>
              <a:t>Automation</a:t>
            </a:r>
            <a:r>
              <a:rPr lang="en-US" sz="2600" dirty="0"/>
              <a:t>: Reduces manual effort in designing flowcharts.</a:t>
            </a:r>
          </a:p>
          <a:p>
            <a:pPr algn="just"/>
            <a:r>
              <a:rPr lang="en-US" sz="2600" b="1" dirty="0"/>
              <a:t>Accuracy</a:t>
            </a:r>
            <a:r>
              <a:rPr lang="en-US" sz="2600" dirty="0"/>
              <a:t>: Ensures consistency and error-free diagrams.</a:t>
            </a:r>
          </a:p>
          <a:p>
            <a:pPr algn="just"/>
            <a:r>
              <a:rPr lang="en-US" sz="2600" b="1" dirty="0"/>
              <a:t>Versatility</a:t>
            </a:r>
            <a:r>
              <a:rPr lang="en-US" sz="2600" dirty="0"/>
              <a:t>: Supports dynamic updates and multiple export formats.</a:t>
            </a:r>
          </a:p>
          <a:p>
            <a:pPr algn="just"/>
            <a:r>
              <a:rPr lang="en-US" sz="2600" b="1" dirty="0"/>
              <a:t>Accessibility</a:t>
            </a:r>
            <a:r>
              <a:rPr lang="en-US" sz="2600" dirty="0"/>
              <a:t>: Simple user interfaces suitable for professionals and students alike.</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r>
              <a:rPr lang="en-US" b="1" dirty="0"/>
              <a:t>Paper 1</a:t>
            </a:r>
            <a:r>
              <a:rPr lang="en-US" dirty="0"/>
              <a:t>: </a:t>
            </a:r>
          </a:p>
          <a:p>
            <a:pPr marL="0" indent="0">
              <a:buNone/>
            </a:pPr>
            <a:r>
              <a:rPr lang="en-US" i="1" dirty="0"/>
              <a:t>Automated Flowchart Systems in Modern Workplaces</a:t>
            </a:r>
            <a:endParaRPr lang="en-US" dirty="0"/>
          </a:p>
          <a:p>
            <a:pPr>
              <a:buFont typeface="Arial" panose="020B0604020202020204" pitchFamily="34" charset="0"/>
              <a:buChar char="•"/>
            </a:pPr>
            <a:r>
              <a:rPr lang="en-US" b="1" dirty="0"/>
              <a:t>Advantages</a:t>
            </a:r>
            <a:r>
              <a:rPr lang="en-US" dirty="0"/>
              <a:t>: Time-saving, scalable, suitable for collaborative environments.</a:t>
            </a:r>
          </a:p>
          <a:p>
            <a:pPr>
              <a:buFont typeface="Arial" panose="020B0604020202020204" pitchFamily="34" charset="0"/>
              <a:buChar char="•"/>
            </a:pPr>
            <a:r>
              <a:rPr lang="en-US" b="1" dirty="0"/>
              <a:t>Disadvantages</a:t>
            </a:r>
            <a:r>
              <a:rPr lang="en-US" dirty="0"/>
              <a:t>: Limited customization options in some tools.</a:t>
            </a:r>
          </a:p>
          <a:p>
            <a:r>
              <a:rPr lang="en-US" b="1" dirty="0"/>
              <a:t>Paper 2</a:t>
            </a:r>
            <a:r>
              <a:rPr lang="en-US" dirty="0"/>
              <a:t>:</a:t>
            </a:r>
          </a:p>
          <a:p>
            <a:pPr marL="0" indent="0">
              <a:buNone/>
            </a:pPr>
            <a:r>
              <a:rPr lang="en-US" dirty="0"/>
              <a:t> </a:t>
            </a:r>
            <a:r>
              <a:rPr lang="en-US" i="1" dirty="0"/>
              <a:t>Integration of Dynamic Diagrams in Education</a:t>
            </a:r>
            <a:endParaRPr lang="en-US" dirty="0"/>
          </a:p>
          <a:p>
            <a:pPr>
              <a:buFont typeface="Arial" panose="020B0604020202020204" pitchFamily="34" charset="0"/>
              <a:buChar char="•"/>
            </a:pPr>
            <a:r>
              <a:rPr lang="en-US" b="1" dirty="0"/>
              <a:t>Advantages</a:t>
            </a:r>
            <a:r>
              <a:rPr lang="en-US" dirty="0"/>
              <a:t>: Enhances learning through visual aids, reduces dependency on static teaching materials.</a:t>
            </a:r>
          </a:p>
          <a:p>
            <a:pPr>
              <a:buFont typeface="Arial" panose="020B0604020202020204" pitchFamily="34" charset="0"/>
              <a:buChar char="•"/>
            </a:pPr>
            <a:r>
              <a:rPr lang="en-US" b="1" dirty="0"/>
              <a:t>Disadvantages</a:t>
            </a:r>
            <a:r>
              <a:rPr lang="en-US" dirty="0"/>
              <a:t>: Requires technical knowledge for initial setup.</a:t>
            </a:r>
          </a:p>
          <a:p>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a:xfrm>
            <a:off x="190500" y="990600"/>
            <a:ext cx="8763000" cy="5966792"/>
          </a:xfrm>
        </p:spPr>
        <p:txBody>
          <a:bodyPr>
            <a:normAutofit fontScale="70000" lnSpcReduction="20000"/>
          </a:bodyPr>
          <a:lstStyle/>
          <a:p>
            <a:pPr algn="just"/>
            <a:r>
              <a:rPr lang="en-US" sz="3800" dirty="0">
                <a:latin typeface="+mn-lt"/>
              </a:rPr>
              <a:t>The main objective of the </a:t>
            </a:r>
            <a:r>
              <a:rPr lang="en-US" sz="3800" b="1" dirty="0">
                <a:latin typeface="+mn-lt"/>
              </a:rPr>
              <a:t>Flowchart Generator Bot</a:t>
            </a:r>
            <a:r>
              <a:rPr lang="en-US" sz="3800" dirty="0">
                <a:latin typeface="+mn-lt"/>
              </a:rPr>
              <a:t> is to create an intuitive, efficient, and automated tool that dynamically generates flowcharts based on user input specifications. </a:t>
            </a:r>
          </a:p>
          <a:p>
            <a:pPr algn="just"/>
            <a:r>
              <a:rPr lang="en-US" sz="3800" dirty="0">
                <a:latin typeface="+mn-lt"/>
              </a:rPr>
              <a:t>This tool aims to simplify the visualization of workflows, algorithms, and business processes, ensuring accuracy and consistency in diagram creation. </a:t>
            </a:r>
          </a:p>
          <a:p>
            <a:pPr algn="just"/>
            <a:r>
              <a:rPr lang="en-US" sz="3800" b="1" dirty="0">
                <a:latin typeface="+mn-lt"/>
              </a:rPr>
              <a:t>Key objectives include:</a:t>
            </a:r>
          </a:p>
          <a:p>
            <a:pPr algn="just">
              <a:buFont typeface="+mj-lt"/>
              <a:buAutoNum type="arabicPeriod"/>
            </a:pPr>
            <a:r>
              <a:rPr lang="en-US" sz="3800" b="1" dirty="0">
                <a:latin typeface="+mn-lt"/>
              </a:rPr>
              <a:t>Automation</a:t>
            </a:r>
            <a:r>
              <a:rPr lang="en-US" sz="3800" dirty="0">
                <a:latin typeface="+mn-lt"/>
              </a:rPr>
              <a:t>: Automate the flowchart generation process to save time and eliminate manual design efforts.</a:t>
            </a:r>
          </a:p>
          <a:p>
            <a:pPr algn="just">
              <a:buFont typeface="+mj-lt"/>
              <a:buAutoNum type="arabicPeriod"/>
            </a:pPr>
            <a:r>
              <a:rPr lang="en-US" sz="3800" b="1" dirty="0">
                <a:latin typeface="+mn-lt"/>
              </a:rPr>
              <a:t>User-Friendly Interface</a:t>
            </a:r>
            <a:r>
              <a:rPr lang="en-US" sz="3800" dirty="0">
                <a:latin typeface="+mn-lt"/>
              </a:rPr>
              <a:t>: Provide an easy-to-use interface that allows users with minimal technical knowledge to create detailed and professional flowcharts.</a:t>
            </a:r>
          </a:p>
          <a:p>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E51E1079-063B-FA69-7062-5DAE8195A44A}"/>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0" y="990600"/>
            <a:ext cx="8953500" cy="5334000"/>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a:xfrm>
            <a:off x="359532" y="1556792"/>
            <a:ext cx="8597456" cy="4500500"/>
          </a:xfrm>
        </p:spPr>
        <p:txBody>
          <a:bodyPr>
            <a:normAutofit/>
          </a:bodyPr>
          <a:lstStyle/>
          <a:p>
            <a:r>
              <a:rPr lang="en-US" b="1" dirty="0"/>
              <a:t>Hardware:</a:t>
            </a:r>
          </a:p>
          <a:p>
            <a:pPr lvl="1"/>
            <a:r>
              <a:rPr lang="en-US" sz="2400" b="1" dirty="0"/>
              <a:t>Minimum:</a:t>
            </a:r>
            <a:r>
              <a:rPr lang="en-US" sz="2400" dirty="0"/>
              <a:t> 2 GHz CPU, 4GB RAM, 500MB free disk space.</a:t>
            </a:r>
          </a:p>
          <a:p>
            <a:pPr lvl="1"/>
            <a:r>
              <a:rPr lang="en-US" sz="2400" b="1" dirty="0"/>
              <a:t>Recommended: </a:t>
            </a:r>
            <a:r>
              <a:rPr lang="en-US" sz="2400" dirty="0"/>
              <a:t>3 GHz CPU, 8GB RAM, SSD storage.</a:t>
            </a:r>
          </a:p>
          <a:p>
            <a:pPr lvl="1"/>
            <a:r>
              <a:rPr lang="en-US" sz="2400" b="1" dirty="0"/>
              <a:t>UiPath Studio</a:t>
            </a:r>
            <a:r>
              <a:rPr lang="en-US" sz="2400" dirty="0"/>
              <a:t>: Latest Version</a:t>
            </a:r>
          </a:p>
          <a:p>
            <a:r>
              <a:rPr lang="en-US" b="1" dirty="0"/>
              <a:t>Software:</a:t>
            </a:r>
          </a:p>
          <a:p>
            <a:pPr lvl="1"/>
            <a:r>
              <a:rPr lang="en-US" sz="2400" dirty="0"/>
              <a:t>Windows/Linux/MacOS.</a:t>
            </a:r>
          </a:p>
          <a:p>
            <a:pPr lvl="1"/>
            <a:r>
              <a:rPr lang="en-US" sz="2400" b="1" dirty="0"/>
              <a:t>Web browser: </a:t>
            </a:r>
            <a:r>
              <a:rPr lang="en-US" sz="2400" dirty="0"/>
              <a:t>Chrome, Edge, </a:t>
            </a:r>
            <a:r>
              <a:rPr lang="en-US" sz="2400" dirty="0" err="1"/>
              <a:t>FireFox</a:t>
            </a:r>
            <a:r>
              <a:rPr lang="en-US" sz="2400" dirty="0"/>
              <a:t>.</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IN" b="1" dirty="0"/>
              <a:t>Flowchart Logic Processor</a:t>
            </a:r>
            <a:r>
              <a:rPr lang="en-US" dirty="0"/>
              <a:t>: Parsing user-provided flowchart details.  Generating </a:t>
            </a:r>
            <a:r>
              <a:rPr lang="en-US" dirty="0" err="1"/>
              <a:t>PlantUML</a:t>
            </a:r>
            <a:r>
              <a:rPr lang="en-US" dirty="0"/>
              <a:t> or other intermediate code.</a:t>
            </a:r>
          </a:p>
          <a:p>
            <a:endParaRPr lang="en-US" dirty="0"/>
          </a:p>
        </p:txBody>
      </p:sp>
      <p:pic>
        <p:nvPicPr>
          <p:cNvPr id="10" name="Picture 9">
            <a:extLst>
              <a:ext uri="{FF2B5EF4-FFF2-40B4-BE49-F238E27FC236}">
                <a16:creationId xmlns:a16="http://schemas.microsoft.com/office/drawing/2014/main" id="{91DBC354-AB31-9CCB-5EEA-2008A4E99B3A}"/>
              </a:ext>
            </a:extLst>
          </p:cNvPr>
          <p:cNvPicPr>
            <a:picLocks noChangeAspect="1"/>
          </p:cNvPicPr>
          <p:nvPr/>
        </p:nvPicPr>
        <p:blipFill>
          <a:blip r:embed="rId4"/>
          <a:stretch>
            <a:fillRect/>
          </a:stretch>
        </p:blipFill>
        <p:spPr>
          <a:xfrm>
            <a:off x="539552" y="1880828"/>
            <a:ext cx="8136904" cy="4519972"/>
          </a:xfrm>
          <a:prstGeom prst="rect">
            <a:avLst/>
          </a:prstGeo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5C4B8-744D-D4A1-676E-84DC4FA9E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D4EC1-CE62-FE22-F097-AB2F869014B5}"/>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D9527102-AE83-430D-AD92-E56509072F3E}"/>
              </a:ext>
            </a:extLst>
          </p:cNvPr>
          <p:cNvSpPr>
            <a:spLocks noGrp="1"/>
          </p:cNvSpPr>
          <p:nvPr>
            <p:ph idx="1"/>
          </p:nvPr>
        </p:nvSpPr>
        <p:spPr/>
        <p:txBody>
          <a:bodyPr/>
          <a:lstStyle/>
          <a:p>
            <a:r>
              <a:rPr lang="en-US" b="1" dirty="0"/>
              <a:t>Output Module: </a:t>
            </a:r>
            <a:r>
              <a:rPr lang="en-US" sz="2000" dirty="0"/>
              <a:t>The </a:t>
            </a:r>
            <a:r>
              <a:rPr lang="en-US" sz="2000" b="1" dirty="0"/>
              <a:t>Output Module</a:t>
            </a:r>
            <a:r>
              <a:rPr lang="en-US" sz="2000" dirty="0"/>
              <a:t> is responsible for producing the final flowchart in the desired format. It also provides additional functionalities such as saving the output to a local system or sending it via email.</a:t>
            </a:r>
          </a:p>
          <a:p>
            <a:pPr marL="0" indent="0">
              <a:buNone/>
            </a:pPr>
            <a:endParaRPr lang="en-US" dirty="0"/>
          </a:p>
        </p:txBody>
      </p:sp>
      <p:pic>
        <p:nvPicPr>
          <p:cNvPr id="5" name="Picture 4">
            <a:extLst>
              <a:ext uri="{FF2B5EF4-FFF2-40B4-BE49-F238E27FC236}">
                <a16:creationId xmlns:a16="http://schemas.microsoft.com/office/drawing/2014/main" id="{63D25A68-6774-AC6E-034F-7B4643C24EEF}"/>
              </a:ext>
            </a:extLst>
          </p:cNvPr>
          <p:cNvPicPr>
            <a:picLocks noChangeAspect="1"/>
          </p:cNvPicPr>
          <p:nvPr/>
        </p:nvPicPr>
        <p:blipFill>
          <a:blip r:embed="rId4"/>
          <a:stretch>
            <a:fillRect/>
          </a:stretch>
        </p:blipFill>
        <p:spPr>
          <a:xfrm>
            <a:off x="190500" y="2312876"/>
            <a:ext cx="8269932" cy="3903712"/>
          </a:xfrm>
          <a:prstGeom prst="rect">
            <a:avLst/>
          </a:prstGeom>
        </p:spPr>
      </p:pic>
    </p:spTree>
    <p:custDataLst>
      <p:tags r:id="rId1"/>
    </p:custDataLst>
    <p:extLst>
      <p:ext uri="{BB962C8B-B14F-4D97-AF65-F5344CB8AC3E}">
        <p14:creationId xmlns:p14="http://schemas.microsoft.com/office/powerpoint/2010/main" val="3231092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r>
              <a:rPr lang="en-US" b="1" dirty="0"/>
              <a:t>ERD:</a:t>
            </a:r>
          </a:p>
          <a:p>
            <a:endParaRPr lang="en-US" b="1" dirty="0"/>
          </a:p>
        </p:txBody>
      </p:sp>
      <p:pic>
        <p:nvPicPr>
          <p:cNvPr id="5" name="Picture 4">
            <a:extLst>
              <a:ext uri="{FF2B5EF4-FFF2-40B4-BE49-F238E27FC236}">
                <a16:creationId xmlns:a16="http://schemas.microsoft.com/office/drawing/2014/main" id="{47DEA4D1-2775-3673-7503-6319AF1429BD}"/>
              </a:ext>
            </a:extLst>
          </p:cNvPr>
          <p:cNvPicPr>
            <a:picLocks noChangeAspect="1"/>
          </p:cNvPicPr>
          <p:nvPr/>
        </p:nvPicPr>
        <p:blipFill>
          <a:blip r:embed="rId4"/>
          <a:stretch>
            <a:fillRect/>
          </a:stretch>
        </p:blipFill>
        <p:spPr>
          <a:xfrm>
            <a:off x="0" y="1484784"/>
            <a:ext cx="9144000" cy="4661924"/>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latin typeface="Arial Black" panose="020B0A04020102020204" pitchFamily="34" charset="0"/>
              </a:rPr>
              <a:t>Main Process:</a:t>
            </a:r>
          </a:p>
          <a:p>
            <a:r>
              <a:rPr lang="en-US" dirty="0"/>
              <a:t>The </a:t>
            </a:r>
            <a:r>
              <a:rPr lang="en-US" b="1" dirty="0"/>
              <a:t>main process</a:t>
            </a:r>
            <a:r>
              <a:rPr lang="en-US" dirty="0"/>
              <a:t> is the overall orchestrator of the workflow and manages high-level actions like user input, validation, flowchart generation, and feedback.</a:t>
            </a:r>
            <a:endParaRPr lang="en-US" b="1" dirty="0">
              <a:latin typeface="Arial Black" panose="020B0A04020102020204" pitchFamily="34" charset="0"/>
            </a:endParaRPr>
          </a:p>
          <a:p>
            <a:pPr>
              <a:buFont typeface="+mj-lt"/>
              <a:buAutoNum type="arabicPeriod"/>
            </a:pPr>
            <a:r>
              <a:rPr lang="en-IN" b="1" dirty="0"/>
              <a:t>Start</a:t>
            </a:r>
            <a:r>
              <a:rPr lang="en-IN" dirty="0"/>
              <a:t> (Triggered by user)</a:t>
            </a:r>
          </a:p>
          <a:p>
            <a:pPr>
              <a:buFont typeface="+mj-lt"/>
              <a:buAutoNum type="arabicPeriod"/>
            </a:pPr>
            <a:r>
              <a:rPr lang="en-IN" b="1" dirty="0"/>
              <a:t>Collect User Input</a:t>
            </a:r>
            <a:r>
              <a:rPr lang="en-IN" dirty="0"/>
              <a:t> (via </a:t>
            </a:r>
            <a:r>
              <a:rPr lang="en-IN" b="1" dirty="0"/>
              <a:t>Input Dialog</a:t>
            </a:r>
            <a:r>
              <a:rPr lang="en-IN" dirty="0"/>
              <a:t>)</a:t>
            </a:r>
          </a:p>
          <a:p>
            <a:pPr>
              <a:buFont typeface="+mj-lt"/>
              <a:buAutoNum type="arabicPeriod"/>
            </a:pPr>
            <a:r>
              <a:rPr lang="en-IN" b="1" dirty="0"/>
              <a:t>Validate Input</a:t>
            </a:r>
            <a:r>
              <a:rPr lang="en-IN" dirty="0"/>
              <a:t> (via </a:t>
            </a:r>
            <a:r>
              <a:rPr lang="en-IN" b="1" dirty="0"/>
              <a:t>If conditions</a:t>
            </a:r>
            <a:r>
              <a:rPr lang="en-IN" dirty="0"/>
              <a:t>)</a:t>
            </a:r>
          </a:p>
          <a:p>
            <a:pPr>
              <a:buFont typeface="+mj-lt"/>
              <a:buAutoNum type="arabicPeriod"/>
            </a:pPr>
            <a:r>
              <a:rPr lang="en-IN" b="1" dirty="0"/>
              <a:t>Generate Flowchart</a:t>
            </a:r>
            <a:r>
              <a:rPr lang="en-IN" dirty="0"/>
              <a:t> (via </a:t>
            </a:r>
            <a:r>
              <a:rPr lang="en-IN" b="1" dirty="0"/>
              <a:t>Invoke Code</a:t>
            </a:r>
            <a:r>
              <a:rPr lang="en-IN" dirty="0"/>
              <a:t> to generate </a:t>
            </a:r>
            <a:r>
              <a:rPr lang="en-IN" dirty="0" err="1"/>
              <a:t>PlantUML</a:t>
            </a:r>
            <a:r>
              <a:rPr lang="en-IN" dirty="0"/>
              <a:t>)</a:t>
            </a:r>
          </a:p>
          <a:p>
            <a:pPr>
              <a:buFont typeface="+mj-lt"/>
              <a:buAutoNum type="arabicPeriod"/>
            </a:pPr>
            <a:r>
              <a:rPr lang="en-IN" b="1" dirty="0"/>
              <a:t>Save Flowchart</a:t>
            </a:r>
            <a:r>
              <a:rPr lang="en-IN" dirty="0"/>
              <a:t> (via </a:t>
            </a:r>
            <a:r>
              <a:rPr lang="en-IN" b="1" dirty="0"/>
              <a:t>Write Text File</a:t>
            </a:r>
            <a:r>
              <a:rPr lang="en-IN" dirty="0"/>
              <a:t> or </a:t>
            </a:r>
            <a:r>
              <a:rPr lang="en-IN" b="1" dirty="0"/>
              <a:t>Save As</a:t>
            </a:r>
            <a:r>
              <a:rPr lang="en-IN" dirty="0"/>
              <a:t>)</a:t>
            </a:r>
          </a:p>
          <a:p>
            <a:pPr>
              <a:buFont typeface="+mj-lt"/>
              <a:buAutoNum type="arabicPeriod"/>
            </a:pPr>
            <a:r>
              <a:rPr lang="en-IN" b="1" dirty="0"/>
              <a:t>Send Email</a:t>
            </a:r>
            <a:r>
              <a:rPr lang="en-IN" dirty="0"/>
              <a:t> (via </a:t>
            </a:r>
            <a:r>
              <a:rPr lang="en-IN" b="1" dirty="0"/>
              <a:t>Send SMTP Mail</a:t>
            </a:r>
            <a:r>
              <a:rPr lang="en-IN" dirty="0"/>
              <a:t> if selected)</a:t>
            </a:r>
          </a:p>
          <a:p>
            <a:pPr>
              <a:buFont typeface="+mj-lt"/>
              <a:buAutoNum type="arabicPeriod"/>
            </a:pPr>
            <a:r>
              <a:rPr lang="en-IN" b="1" dirty="0"/>
              <a:t>Provide Feedback</a:t>
            </a:r>
            <a:r>
              <a:rPr lang="en-IN" dirty="0"/>
              <a:t> (via </a:t>
            </a:r>
            <a:r>
              <a:rPr lang="en-IN" b="1" dirty="0"/>
              <a:t>Message Box</a:t>
            </a:r>
            <a:r>
              <a:rPr lang="en-IN" dirty="0"/>
              <a:t>)</a:t>
            </a:r>
          </a:p>
          <a:p>
            <a:pPr>
              <a:buFont typeface="+mj-lt"/>
              <a:buAutoNum type="arabicPeriod"/>
            </a:pPr>
            <a:r>
              <a:rPr lang="en-IN" b="1" dirty="0"/>
              <a:t>End</a:t>
            </a:r>
            <a:endParaRPr lang="en-IN" dirty="0"/>
          </a:p>
          <a:p>
            <a:endParaRPr lang="en-US" b="1"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2935-4870-2AEC-A459-91859678D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A9D67-93B2-C62C-0AA1-1D25A3C257A4}"/>
              </a:ext>
            </a:extLst>
          </p:cNvPr>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a:extLst>
              <a:ext uri="{FF2B5EF4-FFF2-40B4-BE49-F238E27FC236}">
                <a16:creationId xmlns:a16="http://schemas.microsoft.com/office/drawing/2014/main" id="{1F91821E-E1F0-309F-A06F-2E1310D6020F}"/>
              </a:ext>
            </a:extLst>
          </p:cNvPr>
          <p:cNvSpPr>
            <a:spLocks noGrp="1"/>
          </p:cNvSpPr>
          <p:nvPr>
            <p:ph idx="1"/>
          </p:nvPr>
        </p:nvSpPr>
        <p:spPr/>
        <p:txBody>
          <a:bodyPr>
            <a:normAutofit fontScale="92500"/>
          </a:bodyPr>
          <a:lstStyle/>
          <a:p>
            <a:r>
              <a:rPr lang="en-US" b="1" dirty="0">
                <a:latin typeface="Arial Black" panose="020B0A04020102020204" pitchFamily="34" charset="0"/>
              </a:rPr>
              <a:t>Sub Process:</a:t>
            </a:r>
          </a:p>
          <a:p>
            <a:r>
              <a:rPr lang="en-US" dirty="0"/>
              <a:t>The </a:t>
            </a:r>
            <a:r>
              <a:rPr lang="en-US" b="1" dirty="0"/>
              <a:t>sub-processes</a:t>
            </a:r>
            <a:r>
              <a:rPr lang="en-US" dirty="0"/>
              <a:t> are smaller, reusable tasks that handle specific steps within the main process, such as collecting input, validating data, or generating code.</a:t>
            </a:r>
            <a:endParaRPr lang="en-US" b="1" dirty="0">
              <a:latin typeface="Arial Black" panose="020B0A04020102020204" pitchFamily="34" charset="0"/>
            </a:endParaRPr>
          </a:p>
          <a:p>
            <a:r>
              <a:rPr lang="en-US" dirty="0"/>
              <a:t>Collect User Input: Input dialogs or forms to collect details about the flowchart.</a:t>
            </a:r>
          </a:p>
          <a:p>
            <a:r>
              <a:rPr lang="en-US" dirty="0"/>
              <a:t>Validate Input: Check if input fields are valid and correct.</a:t>
            </a:r>
          </a:p>
          <a:p>
            <a:r>
              <a:rPr lang="en-US" b="1" dirty="0"/>
              <a:t>Generate Flowchart Code</a:t>
            </a:r>
            <a:r>
              <a:rPr lang="en-US" dirty="0"/>
              <a:t>: Convert input into flowchart code.</a:t>
            </a:r>
          </a:p>
          <a:p>
            <a:r>
              <a:rPr lang="en-US" dirty="0"/>
              <a:t>Save Flowchart: Save the generated flowchart to a local file or cloud storage.</a:t>
            </a:r>
          </a:p>
          <a:p>
            <a:r>
              <a:rPr lang="en-US" b="1" dirty="0"/>
              <a:t>Send Flowchart via Email</a:t>
            </a:r>
            <a:r>
              <a:rPr lang="en-US" dirty="0"/>
              <a:t>: Send the flowchart to the user via email.</a:t>
            </a:r>
          </a:p>
          <a:p>
            <a:r>
              <a:rPr lang="en-US" dirty="0"/>
              <a:t>Error Handling: Handle errors and log them appropriately.</a:t>
            </a:r>
          </a:p>
          <a:p>
            <a:endParaRPr lang="en-US" b="1"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231987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lstStyle/>
          <a:p>
            <a:r>
              <a:rPr lang="en-US" dirty="0"/>
              <a:t>Implementation of </a:t>
            </a:r>
            <a:r>
              <a:rPr lang="en-US" b="1" dirty="0"/>
              <a:t>Flowchart Logic Processor</a:t>
            </a:r>
            <a:r>
              <a:rPr lang="en-US" dirty="0"/>
              <a:t>: </a:t>
            </a:r>
          </a:p>
          <a:p>
            <a:pPr lvl="1"/>
            <a:r>
              <a:rPr lang="en-US" sz="2400" dirty="0"/>
              <a:t>Parsing user-provided flowchart </a:t>
            </a:r>
            <a:r>
              <a:rPr lang="en-US" sz="2400" dirty="0" err="1"/>
              <a:t>details.Generating</a:t>
            </a:r>
            <a:r>
              <a:rPr lang="en-US" sz="2400" dirty="0"/>
              <a:t> </a:t>
            </a:r>
            <a:r>
              <a:rPr lang="en-US" sz="2400" dirty="0" err="1"/>
              <a:t>PlantUML</a:t>
            </a:r>
            <a:r>
              <a:rPr lang="en-US" sz="2400" dirty="0"/>
              <a:t> or other intermediate code</a:t>
            </a:r>
          </a:p>
          <a:p>
            <a:r>
              <a:rPr lang="en-US" b="1" dirty="0"/>
              <a:t>Screen shots </a:t>
            </a:r>
            <a:r>
              <a:rPr lang="en-US" dirty="0"/>
              <a:t>of Scraped </a:t>
            </a:r>
            <a:r>
              <a:rPr lang="en-US" dirty="0" err="1"/>
              <a:t>PlantUML</a:t>
            </a:r>
            <a:r>
              <a:rPr lang="en-US" dirty="0"/>
              <a:t> code </a:t>
            </a:r>
          </a:p>
          <a:p>
            <a:endParaRPr lang="en-US" dirty="0"/>
          </a:p>
        </p:txBody>
      </p:sp>
      <p:pic>
        <p:nvPicPr>
          <p:cNvPr id="5" name="Picture 4">
            <a:extLst>
              <a:ext uri="{FF2B5EF4-FFF2-40B4-BE49-F238E27FC236}">
                <a16:creationId xmlns:a16="http://schemas.microsoft.com/office/drawing/2014/main" id="{9C307873-354F-2653-D2AD-C6D682E95736}"/>
              </a:ext>
            </a:extLst>
          </p:cNvPr>
          <p:cNvPicPr>
            <a:picLocks noChangeAspect="1"/>
          </p:cNvPicPr>
          <p:nvPr/>
        </p:nvPicPr>
        <p:blipFill>
          <a:blip r:embed="rId4"/>
          <a:stretch>
            <a:fillRect/>
          </a:stretch>
        </p:blipFill>
        <p:spPr>
          <a:xfrm>
            <a:off x="1799692" y="3016188"/>
            <a:ext cx="5760640" cy="3388618"/>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04F04-8FD4-8F90-183C-EDD91C032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263EA-5AE0-EED4-29B3-0C0227071180}"/>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D82ADE3F-B956-7BB0-41D9-FBFBC45EB950}"/>
              </a:ext>
            </a:extLst>
          </p:cNvPr>
          <p:cNvSpPr>
            <a:spLocks noGrp="1"/>
          </p:cNvSpPr>
          <p:nvPr>
            <p:ph idx="1"/>
          </p:nvPr>
        </p:nvSpPr>
        <p:spPr/>
        <p:txBody>
          <a:bodyPr/>
          <a:lstStyle/>
          <a:p>
            <a:r>
              <a:rPr lang="en-US" dirty="0"/>
              <a:t>Implementation of  </a:t>
            </a:r>
            <a:r>
              <a:rPr lang="en-US" b="1" dirty="0"/>
              <a:t>Output Module</a:t>
            </a:r>
            <a:r>
              <a:rPr lang="en-US" dirty="0"/>
              <a:t>:</a:t>
            </a:r>
          </a:p>
          <a:p>
            <a:pPr lvl="1"/>
            <a:r>
              <a:rPr lang="en-US" sz="2000" dirty="0"/>
              <a:t>It is responsible for producing the final flowchart in the desired format and to send mail to the user</a:t>
            </a:r>
          </a:p>
          <a:p>
            <a:pPr lvl="1"/>
            <a:r>
              <a:rPr lang="en-US" b="1" dirty="0"/>
              <a:t>Screen Shot:</a:t>
            </a:r>
          </a:p>
          <a:p>
            <a:endParaRPr lang="en-US" dirty="0"/>
          </a:p>
        </p:txBody>
      </p:sp>
      <p:pic>
        <p:nvPicPr>
          <p:cNvPr id="5" name="Picture 4">
            <a:extLst>
              <a:ext uri="{FF2B5EF4-FFF2-40B4-BE49-F238E27FC236}">
                <a16:creationId xmlns:a16="http://schemas.microsoft.com/office/drawing/2014/main" id="{F7AEA9BA-4C67-5862-BE2A-117CD85BC96E}"/>
              </a:ext>
            </a:extLst>
          </p:cNvPr>
          <p:cNvPicPr>
            <a:picLocks noChangeAspect="1"/>
          </p:cNvPicPr>
          <p:nvPr/>
        </p:nvPicPr>
        <p:blipFill>
          <a:blip r:embed="rId4"/>
          <a:stretch>
            <a:fillRect/>
          </a:stretch>
        </p:blipFill>
        <p:spPr>
          <a:xfrm>
            <a:off x="44217" y="2600908"/>
            <a:ext cx="9055565" cy="3723692"/>
          </a:xfrm>
          <a:prstGeom prst="rect">
            <a:avLst/>
          </a:prstGeom>
        </p:spPr>
      </p:pic>
    </p:spTree>
    <p:custDataLst>
      <p:tags r:id="rId1"/>
    </p:custDataLst>
    <p:extLst>
      <p:ext uri="{BB962C8B-B14F-4D97-AF65-F5344CB8AC3E}">
        <p14:creationId xmlns:p14="http://schemas.microsoft.com/office/powerpoint/2010/main" val="785642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US" dirty="0"/>
              <a:t>The UiPath Flowchart Generator has been tested for its functionalities</a:t>
            </a:r>
          </a:p>
          <a:p>
            <a:r>
              <a:rPr lang="en-US" b="1" dirty="0"/>
              <a:t>Screen shots</a:t>
            </a:r>
          </a:p>
          <a:p>
            <a:endParaRPr lang="en-US" dirty="0"/>
          </a:p>
        </p:txBody>
      </p:sp>
      <p:pic>
        <p:nvPicPr>
          <p:cNvPr id="5" name="Picture 4">
            <a:extLst>
              <a:ext uri="{FF2B5EF4-FFF2-40B4-BE49-F238E27FC236}">
                <a16:creationId xmlns:a16="http://schemas.microsoft.com/office/drawing/2014/main" id="{A77EB04F-8657-B3FD-6BB6-C57A0F26033F}"/>
              </a:ext>
            </a:extLst>
          </p:cNvPr>
          <p:cNvPicPr>
            <a:picLocks noChangeAspect="1"/>
          </p:cNvPicPr>
          <p:nvPr/>
        </p:nvPicPr>
        <p:blipFill>
          <a:blip r:embed="rId4"/>
          <a:stretch>
            <a:fillRect/>
          </a:stretch>
        </p:blipFill>
        <p:spPr>
          <a:xfrm>
            <a:off x="1187624" y="2636912"/>
            <a:ext cx="6516724" cy="3763888"/>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latin typeface="Arial Black" panose="020B0A04020102020204" pitchFamily="34" charset="0"/>
              </a:rPr>
              <a:t>Description:</a:t>
            </a:r>
          </a:p>
          <a:p>
            <a:pPr marL="457200" lvl="1" indent="0" algn="just">
              <a:buNone/>
            </a:pPr>
            <a:r>
              <a:rPr lang="en-US" sz="2400" b="1" dirty="0">
                <a:latin typeface="Arial Black" panose="020B0A04020102020204" pitchFamily="34" charset="0"/>
              </a:rPr>
              <a:t> </a:t>
            </a:r>
            <a:r>
              <a:rPr lang="en-US" sz="2400" dirty="0"/>
              <a:t>The </a:t>
            </a:r>
            <a:r>
              <a:rPr lang="en-US" sz="2400" b="1" dirty="0"/>
              <a:t>Flowchart Generator Bot</a:t>
            </a:r>
            <a:r>
              <a:rPr lang="en-US" sz="2400" dirty="0"/>
              <a:t> is a specialized tool designed to automate the process of creating flowcharts by generating </a:t>
            </a:r>
            <a:r>
              <a:rPr lang="en-US" sz="2400" b="1" dirty="0"/>
              <a:t>UML code</a:t>
            </a:r>
            <a:r>
              <a:rPr lang="en-US" sz="2400" dirty="0"/>
              <a:t> through AI and using a </a:t>
            </a:r>
            <a:r>
              <a:rPr lang="en-US" sz="2400" b="1" dirty="0" err="1"/>
              <a:t>PlantUML</a:t>
            </a:r>
            <a:r>
              <a:rPr lang="en-US" sz="2400" b="1" dirty="0"/>
              <a:t> renderer</a:t>
            </a:r>
            <a:r>
              <a:rPr lang="en-US" sz="2400" dirty="0"/>
              <a:t> to generate the diagrams. This tool </a:t>
            </a:r>
            <a:r>
              <a:rPr lang="en-US" sz="2400" b="1" dirty="0"/>
              <a:t>simplifies the visualization of workflow</a:t>
            </a:r>
            <a:r>
              <a:rPr lang="en-US" sz="2400" dirty="0"/>
              <a:t>s and algorithms by taking user input, automatically converting it into flowchart logic, and rendering it into a clear, visual diagram. With a focus on efficiency and ease of use, the bot eliminates manual diagramming effort, ensuring accurate and consistent results. The integration of </a:t>
            </a:r>
            <a:r>
              <a:rPr lang="en-US" sz="2400" b="1" dirty="0"/>
              <a:t>AI-driven UML code generation and </a:t>
            </a:r>
            <a:r>
              <a:rPr lang="en-US" sz="2400" b="1" dirty="0" err="1"/>
              <a:t>PlantUML</a:t>
            </a:r>
            <a:r>
              <a:rPr lang="en-US" sz="2400" b="1" dirty="0"/>
              <a:t> rendering streamlines the diagram creation process</a:t>
            </a:r>
            <a:r>
              <a:rPr lang="en-US" sz="2400" dirty="0"/>
              <a:t>, making it accessible to both </a:t>
            </a:r>
            <a:r>
              <a:rPr lang="en-US" sz="2400" b="1" dirty="0"/>
              <a:t>technical and non-technical users </a:t>
            </a:r>
            <a:r>
              <a:rPr lang="en-US" sz="2400" dirty="0"/>
              <a:t>while saving time and reducing the risk of errors.</a:t>
            </a:r>
            <a:endParaRPr lang="en-US" sz="2400" b="1" dirty="0">
              <a:latin typeface="Arial Black" panose="020B0A04020102020204" pitchFamily="34" charset="0"/>
            </a:endParaRP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t>User-Friendly Interface with UiPath Apps</a:t>
            </a:r>
          </a:p>
          <a:p>
            <a:pPr>
              <a:buFont typeface="Arial" panose="020B0604020202020204" pitchFamily="34" charset="0"/>
              <a:buChar char="•"/>
            </a:pPr>
            <a:r>
              <a:rPr lang="en-US" b="1" dirty="0"/>
              <a:t>Description</a:t>
            </a:r>
            <a:r>
              <a:rPr lang="en-US" dirty="0"/>
              <a:t>: Create a centralized </a:t>
            </a:r>
            <a:r>
              <a:rPr lang="en-US" b="1" dirty="0"/>
              <a:t>UiPath App</a:t>
            </a:r>
            <a:r>
              <a:rPr lang="en-US" dirty="0"/>
              <a:t> interface that serves as the single point of interaction for users to generate flowcharts, ER diagrams, and activity diagrams. The interface should be intuitive and allow users to input data, visualize the process, and receive feedback in real time.</a:t>
            </a:r>
          </a:p>
          <a:p>
            <a:r>
              <a:rPr lang="en-US" b="1" dirty="0"/>
              <a:t>Real-Time Collaboration and Version Control</a:t>
            </a:r>
          </a:p>
          <a:p>
            <a:r>
              <a:rPr lang="en-US" b="1" dirty="0"/>
              <a:t>Description</a:t>
            </a:r>
            <a:r>
              <a:rPr lang="en-US" dirty="0"/>
              <a:t>: Enabling multiple users to collaborate on flowchart creation in real-time is a significant enhancement. This would allow teams to work together, providing immediate updates and changes to a diagram as they happen. With </a:t>
            </a:r>
            <a:r>
              <a:rPr lang="en-US" b="1" dirty="0"/>
              <a:t>version control</a:t>
            </a:r>
            <a:r>
              <a:rPr lang="en-US" dirty="0"/>
              <a:t> integrated, users can track all modifications, revert to previous versions, and maintain a clear history of changes.</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a:xfrm>
            <a:off x="190500" y="990600"/>
            <a:ext cx="8763000" cy="4670648"/>
          </a:xfrm>
        </p:spPr>
        <p:txBody>
          <a:bodyPr>
            <a:normAutofit fontScale="92500"/>
          </a:bodyPr>
          <a:lstStyle/>
          <a:p>
            <a:pPr algn="just"/>
            <a:r>
              <a:rPr lang="en-US" sz="2800" b="1" dirty="0"/>
              <a:t>"A Novel Approach for Creating Flowcharts using Generative AI"</a:t>
            </a:r>
            <a:r>
              <a:rPr lang="en-US" sz="2800" dirty="0"/>
              <a:t> – This paper discusses the use of generative AI to automate flowchart creation, which is closely related to the process of generating UML or flowchart diagrams automatically based on inputs. It covers techniques and methodologies for improving flowchart generation efficiency.​</a:t>
            </a:r>
          </a:p>
          <a:p>
            <a:pPr algn="just"/>
            <a:r>
              <a:rPr lang="en-US" sz="3600" b="1" dirty="0"/>
              <a:t>Authors:</a:t>
            </a:r>
            <a:endParaRPr lang="en-IN" b="0" i="0" u="none" strike="noStrike" dirty="0">
              <a:solidFill>
                <a:srgbClr val="006699"/>
              </a:solidFill>
              <a:effectLst/>
              <a:latin typeface="HelveticaNeue Regular"/>
              <a:hlinkClick r:id="rId4"/>
            </a:endParaRPr>
          </a:p>
          <a:p>
            <a:pPr lvl="1"/>
            <a:r>
              <a:rPr lang="en-IN" sz="2700" b="0" i="0" u="none" strike="noStrike" dirty="0">
                <a:solidFill>
                  <a:srgbClr val="006699"/>
                </a:solidFill>
                <a:effectLst/>
                <a:latin typeface="HelveticaNeue Regular"/>
                <a:hlinkClick r:id="rId4"/>
              </a:rPr>
              <a:t>Madhura Mhatre</a:t>
            </a:r>
            <a:r>
              <a:rPr lang="en-IN" sz="2700" b="0" i="0" dirty="0">
                <a:solidFill>
                  <a:srgbClr val="333333"/>
                </a:solidFill>
                <a:effectLst/>
                <a:latin typeface="HelveticaNeue Regular"/>
              </a:rPr>
              <a:t>; </a:t>
            </a:r>
            <a:r>
              <a:rPr lang="en-IN" sz="2700" b="0" i="0" u="none" strike="noStrike" dirty="0">
                <a:solidFill>
                  <a:srgbClr val="17445A"/>
                </a:solidFill>
                <a:effectLst/>
                <a:latin typeface="HelveticaNeue Regular"/>
                <a:hlinkClick r:id="rId5"/>
              </a:rPr>
              <a:t>Ananya Pandey</a:t>
            </a:r>
            <a:r>
              <a:rPr lang="en-IN" sz="2700" b="0" i="0" dirty="0">
                <a:solidFill>
                  <a:srgbClr val="333333"/>
                </a:solidFill>
                <a:effectLst/>
                <a:latin typeface="HelveticaNeue Regular"/>
              </a:rPr>
              <a:t>; </a:t>
            </a:r>
            <a:r>
              <a:rPr lang="en-IN" sz="2700" b="0" i="0" u="none" strike="noStrike" dirty="0">
                <a:solidFill>
                  <a:srgbClr val="006699"/>
                </a:solidFill>
                <a:effectLst/>
                <a:latin typeface="HelveticaNeue Regular"/>
                <a:hlinkClick r:id="rId6"/>
              </a:rPr>
              <a:t>Harsh Rane</a:t>
            </a:r>
            <a:r>
              <a:rPr lang="en-IN" sz="2700" b="0" i="0" dirty="0">
                <a:solidFill>
                  <a:srgbClr val="333333"/>
                </a:solidFill>
                <a:effectLst/>
                <a:latin typeface="HelveticaNeue Regular"/>
              </a:rPr>
              <a:t>; </a:t>
            </a:r>
            <a:r>
              <a:rPr lang="en-IN" sz="2700" b="0" i="0" u="none" strike="noStrike" dirty="0">
                <a:solidFill>
                  <a:srgbClr val="006699"/>
                </a:solidFill>
                <a:effectLst/>
                <a:latin typeface="HelveticaNeue Regular"/>
                <a:hlinkClick r:id="rId7"/>
              </a:rPr>
              <a:t>Sunita Sahu</a:t>
            </a:r>
            <a:endParaRPr lang="en-US" sz="2700"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a:xfrm>
            <a:off x="190500" y="990600"/>
            <a:ext cx="8763000" cy="3194484"/>
          </a:xfrm>
        </p:spPr>
        <p:txBody>
          <a:bodyPr/>
          <a:lstStyle/>
          <a:p>
            <a:r>
              <a:rPr lang="en-US" dirty="0">
                <a:latin typeface="Arial Black" panose="020B0A04020102020204" pitchFamily="34" charset="0"/>
              </a:rPr>
              <a:t>Journals:</a:t>
            </a:r>
          </a:p>
          <a:p>
            <a:pPr algn="just"/>
            <a:r>
              <a:rPr lang="en-US" sz="2800" b="1" dirty="0"/>
              <a:t>"Code Insight - Flowchart Generator"</a:t>
            </a:r>
            <a:r>
              <a:rPr lang="en-US" sz="2800" dirty="0"/>
              <a:t> (IEEE Xplore)</a:t>
            </a:r>
            <a:br>
              <a:rPr lang="en-US" sz="2800" dirty="0"/>
            </a:br>
            <a:r>
              <a:rPr lang="en-US" sz="2800" dirty="0"/>
              <a:t>This paper explores how code can be automatically transformed into flowcharts, leveraging machine learning and AI models to generate insights from programming logic and visual representation</a:t>
            </a:r>
            <a:endParaRPr lang="en-US" sz="2800"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73D3EF-B06E-A93F-EA68-5635FA1FFC96}"/>
              </a:ext>
            </a:extLst>
          </p:cNvPr>
          <p:cNvSpPr txBox="1"/>
          <p:nvPr/>
        </p:nvSpPr>
        <p:spPr>
          <a:xfrm>
            <a:off x="1007604" y="1952836"/>
            <a:ext cx="6768752" cy="1569660"/>
          </a:xfrm>
          <a:prstGeom prst="rect">
            <a:avLst/>
          </a:prstGeom>
          <a:noFill/>
        </p:spPr>
        <p:txBody>
          <a:bodyPr wrap="square" rtlCol="0">
            <a:spAutoFit/>
          </a:bodyPr>
          <a:lstStyle/>
          <a:p>
            <a:r>
              <a:rPr lang="en-IN" sz="9600" dirty="0">
                <a:latin typeface="+mj-lt"/>
              </a:rPr>
              <a:t>	Queries</a:t>
            </a:r>
          </a:p>
        </p:txBody>
      </p:sp>
    </p:spTree>
    <p:extLst>
      <p:ext uri="{BB962C8B-B14F-4D97-AF65-F5344CB8AC3E}">
        <p14:creationId xmlns:p14="http://schemas.microsoft.com/office/powerpoint/2010/main" val="2191802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00029B-E54F-2A49-39B0-5BE6EA12EAB3}"/>
              </a:ext>
            </a:extLst>
          </p:cNvPr>
          <p:cNvPicPr>
            <a:picLocks noChangeAspect="1"/>
          </p:cNvPicPr>
          <p:nvPr/>
        </p:nvPicPr>
        <p:blipFill>
          <a:blip r:embed="rId3"/>
          <a:stretch>
            <a:fillRect/>
          </a:stretch>
        </p:blipFill>
        <p:spPr>
          <a:xfrm>
            <a:off x="165191" y="1916832"/>
            <a:ext cx="8986283" cy="2651990"/>
          </a:xfrm>
          <a:prstGeom prst="rect">
            <a:avLst/>
          </a:prstGeom>
        </p:spPr>
      </p:pic>
    </p:spTree>
    <p:extLst>
      <p:ext uri="{BB962C8B-B14F-4D97-AF65-F5344CB8AC3E}">
        <p14:creationId xmlns:p14="http://schemas.microsoft.com/office/powerpoint/2010/main" val="2606368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CA6737-6A55-7608-2FC9-822487455B6D}"/>
              </a:ext>
            </a:extLst>
          </p:cNvPr>
          <p:cNvSpPr txBox="1"/>
          <p:nvPr/>
        </p:nvSpPr>
        <p:spPr>
          <a:xfrm>
            <a:off x="1511660" y="2384884"/>
            <a:ext cx="7020780" cy="1569660"/>
          </a:xfrm>
          <a:prstGeom prst="rect">
            <a:avLst/>
          </a:prstGeom>
          <a:noFill/>
        </p:spPr>
        <p:txBody>
          <a:bodyPr wrap="square" rtlCol="0">
            <a:spAutoFit/>
          </a:bodyPr>
          <a:lstStyle/>
          <a:p>
            <a:r>
              <a:rPr lang="en-IN" sz="9600" dirty="0">
                <a:latin typeface="+mj-l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9471</TotalTime>
  <Words>1158</Words>
  <Application>Microsoft Office PowerPoint</Application>
  <PresentationFormat>On-screen Show (4:3)</PresentationFormat>
  <Paragraphs>122</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Calibri</vt:lpstr>
      <vt:lpstr>HelveticaNeue Regular</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Table Design</vt:lpstr>
      <vt:lpstr>Process Design</vt:lpstr>
      <vt:lpstr>Process Design</vt:lpstr>
      <vt:lpstr>Implementation</vt:lpstr>
      <vt:lpstr>Implementation</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bhuvana M</cp:lastModifiedBy>
  <cp:revision>1744</cp:revision>
  <dcterms:created xsi:type="dcterms:W3CDTF">2013-05-17T03:00:03Z</dcterms:created>
  <dcterms:modified xsi:type="dcterms:W3CDTF">2024-11-22T03:29:01Z</dcterms:modified>
</cp:coreProperties>
</file>